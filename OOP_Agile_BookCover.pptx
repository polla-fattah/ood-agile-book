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Lst>
  <p:sldSz cx="6858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E272E"/>
    <a:srgbClr val="1B212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803" autoAdjust="0"/>
    <p:restoredTop sz="94660"/>
  </p:normalViewPr>
  <p:slideViewPr>
    <p:cSldViewPr snapToGrid="0">
      <p:cViewPr varScale="1">
        <p:scale>
          <a:sx n="114" d="100"/>
          <a:sy n="114" d="100"/>
        </p:scale>
        <p:origin x="417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496484"/>
            <a:ext cx="5829300" cy="3183467"/>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4802717"/>
            <a:ext cx="5143500" cy="220768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A423862-3F52-459D-BB97-400A2FF529BA}" type="datetimeFigureOut">
              <a:rPr lang="en-US" smtClean="0"/>
              <a:t>2026-10-13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4226047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423862-3F52-459D-BB97-400A2FF529BA}" type="datetimeFigureOut">
              <a:rPr lang="en-US" smtClean="0"/>
              <a:t>2026-10-13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13143412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279653"/>
            <a:ext cx="5915025" cy="3803649"/>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119286"/>
            <a:ext cx="5915025" cy="2000249"/>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423862-3F52-459D-BB97-400A2FF529BA}" type="datetimeFigureOut">
              <a:rPr lang="en-US" smtClean="0"/>
              <a:t>2026-10-13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797928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434167"/>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434167"/>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A423862-3F52-459D-BB97-400A2FF529BA}" type="datetimeFigureOut">
              <a:rPr lang="en-US" smtClean="0"/>
              <a:t>2026-10-13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161243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486836"/>
            <a:ext cx="5915025" cy="17674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241551"/>
            <a:ext cx="2901255"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340100"/>
            <a:ext cx="2901255"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340100"/>
            <a:ext cx="2915543"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423862-3F52-459D-BB97-400A2FF529BA}" type="datetimeFigureOut">
              <a:rPr lang="en-US" smtClean="0"/>
              <a:t>2026-10-13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764645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A423862-3F52-459D-BB97-400A2FF529BA}" type="datetimeFigureOut">
              <a:rPr lang="en-US" smtClean="0"/>
              <a:t>2026-10-13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1738668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A423862-3F52-459D-BB97-400A2FF529BA}" type="datetimeFigureOut">
              <a:rPr lang="en-US" smtClean="0"/>
              <a:t>2026-10-13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4217512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316569"/>
            <a:ext cx="3471863" cy="649816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8A423862-3F52-459D-BB97-400A2FF529BA}" type="datetimeFigureOut">
              <a:rPr lang="en-US" smtClean="0"/>
              <a:t>2026-10-13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14863573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316569"/>
            <a:ext cx="3471863" cy="6498167"/>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8A423862-3F52-459D-BB97-400A2FF529BA}" type="datetimeFigureOut">
              <a:rPr lang="en-US" smtClean="0"/>
              <a:t>2026-10-13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2183708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423862-3F52-459D-BB97-400A2FF529BA}" type="datetimeFigureOut">
              <a:rPr lang="en-US" smtClean="0"/>
              <a:t>2026-10-13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1799023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486834"/>
            <a:ext cx="1478756" cy="77491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486834"/>
            <a:ext cx="4350544"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423862-3F52-459D-BB97-400A2FF529BA}" type="datetimeFigureOut">
              <a:rPr lang="en-US" smtClean="0"/>
              <a:t>2026-10-13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31281074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486836"/>
            <a:ext cx="5915025" cy="176741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434167"/>
            <a:ext cx="5915025" cy="58017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8475136"/>
            <a:ext cx="1543050" cy="486833"/>
          </a:xfrm>
          <a:prstGeom prst="rect">
            <a:avLst/>
          </a:prstGeom>
        </p:spPr>
        <p:txBody>
          <a:bodyPr vert="horz" lIns="91440" tIns="45720" rIns="91440" bIns="45720" rtlCol="0" anchor="ctr"/>
          <a:lstStyle>
            <a:lvl1pPr algn="l">
              <a:defRPr sz="900">
                <a:solidFill>
                  <a:schemeClr val="tx1">
                    <a:tint val="82000"/>
                  </a:schemeClr>
                </a:solidFill>
              </a:defRPr>
            </a:lvl1pPr>
          </a:lstStyle>
          <a:p>
            <a:fld id="{8A423862-3F52-459D-BB97-400A2FF529BA}" type="datetimeFigureOut">
              <a:rPr lang="en-US" smtClean="0"/>
              <a:t>2026-10-13</a:t>
            </a:fld>
            <a:endParaRPr lang="en-US"/>
          </a:p>
        </p:txBody>
      </p:sp>
      <p:sp>
        <p:nvSpPr>
          <p:cNvPr id="5" name="Footer Placeholder 4"/>
          <p:cNvSpPr>
            <a:spLocks noGrp="1"/>
          </p:cNvSpPr>
          <p:nvPr>
            <p:ph type="ftr" sz="quarter" idx="3"/>
          </p:nvPr>
        </p:nvSpPr>
        <p:spPr>
          <a:xfrm>
            <a:off x="2271713" y="8475136"/>
            <a:ext cx="2314575" cy="48683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8475136"/>
            <a:ext cx="1543050" cy="486833"/>
          </a:xfrm>
          <a:prstGeom prst="rect">
            <a:avLst/>
          </a:prstGeom>
        </p:spPr>
        <p:txBody>
          <a:bodyPr vert="horz" lIns="91440" tIns="45720" rIns="91440" bIns="45720" rtlCol="0" anchor="ctr"/>
          <a:lstStyle>
            <a:lvl1pPr algn="r">
              <a:defRPr sz="900">
                <a:solidFill>
                  <a:schemeClr val="tx1">
                    <a:tint val="82000"/>
                  </a:schemeClr>
                </a:solidFill>
              </a:defRPr>
            </a:lvl1pPr>
          </a:lstStyle>
          <a:p>
            <a:fld id="{6C0A8827-8173-478E-8027-31A736D41BAD}" type="slidenum">
              <a:rPr lang="en-US" smtClean="0"/>
              <a:t>‹#›</a:t>
            </a:fld>
            <a:endParaRPr lang="en-US"/>
          </a:p>
        </p:txBody>
      </p:sp>
    </p:spTree>
    <p:extLst>
      <p:ext uri="{BB962C8B-B14F-4D97-AF65-F5344CB8AC3E}">
        <p14:creationId xmlns:p14="http://schemas.microsoft.com/office/powerpoint/2010/main" val="162568438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B6D0C78-5C07-A24C-CB49-846D76F413A3}"/>
              </a:ext>
            </a:extLst>
          </p:cNvPr>
          <p:cNvPicPr>
            <a:picLocks noChangeAspect="1"/>
          </p:cNvPicPr>
          <p:nvPr/>
        </p:nvPicPr>
        <p:blipFill>
          <a:blip r:embed="rId2"/>
          <a:stretch>
            <a:fillRect/>
          </a:stretch>
        </p:blipFill>
        <p:spPr>
          <a:xfrm>
            <a:off x="0" y="-50334"/>
            <a:ext cx="6858000" cy="9179859"/>
          </a:xfrm>
          <a:prstGeom prst="rect">
            <a:avLst/>
          </a:prstGeom>
        </p:spPr>
      </p:pic>
      <p:sp>
        <p:nvSpPr>
          <p:cNvPr id="6" name="Rectangle 5">
            <a:extLst>
              <a:ext uri="{FF2B5EF4-FFF2-40B4-BE49-F238E27FC236}">
                <a16:creationId xmlns:a16="http://schemas.microsoft.com/office/drawing/2014/main" id="{D31DD1C7-5473-2C4F-0754-7812E59D9B27}"/>
              </a:ext>
            </a:extLst>
          </p:cNvPr>
          <p:cNvSpPr/>
          <p:nvPr/>
        </p:nvSpPr>
        <p:spPr>
          <a:xfrm>
            <a:off x="119542" y="500084"/>
            <a:ext cx="6618914" cy="796517"/>
          </a:xfrm>
          <a:prstGeom prst="rect">
            <a:avLst/>
          </a:prstGeom>
          <a:noFill/>
          <a:ln>
            <a:noFill/>
          </a:ln>
          <a:effectLst>
            <a:outerShdw blurRad="50800" dist="889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8100000" scaled="1"/>
                  <a:tileRect/>
                </a:gradFill>
                <a:effectLst>
                  <a:outerShdw blurRad="50800" dist="38100" dir="16200000" rotWithShape="0">
                    <a:prstClr val="black">
                      <a:alpha val="40000"/>
                    </a:prstClr>
                  </a:outerShdw>
                </a:effectLst>
                <a:latin typeface="Mongolian Baiti" panose="03000500000000000000" pitchFamily="66" charset="0"/>
                <a:ea typeface="ADLaM Display" panose="020F0502020204030204" pitchFamily="2" charset="0"/>
                <a:cs typeface="Mongolian Baiti" panose="03000500000000000000" pitchFamily="66" charset="0"/>
              </a:rPr>
              <a:t>Object Oriented Development</a:t>
            </a:r>
          </a:p>
        </p:txBody>
      </p:sp>
      <p:pic>
        <p:nvPicPr>
          <p:cNvPr id="9" name="Picture 8">
            <a:extLst>
              <a:ext uri="{FF2B5EF4-FFF2-40B4-BE49-F238E27FC236}">
                <a16:creationId xmlns:a16="http://schemas.microsoft.com/office/drawing/2014/main" id="{1A9379B9-0BB4-2D63-AACB-BED1574B0D03}"/>
              </a:ext>
            </a:extLst>
          </p:cNvPr>
          <p:cNvPicPr>
            <a:picLocks noChangeAspect="1"/>
          </p:cNvPicPr>
          <p:nvPr/>
        </p:nvPicPr>
        <p:blipFill>
          <a:blip r:embed="rId3"/>
          <a:stretch>
            <a:fillRect/>
          </a:stretch>
        </p:blipFill>
        <p:spPr>
          <a:xfrm>
            <a:off x="5819862" y="8145709"/>
            <a:ext cx="796517" cy="796517"/>
          </a:xfrm>
          <a:prstGeom prst="rect">
            <a:avLst/>
          </a:prstGeom>
        </p:spPr>
      </p:pic>
      <p:sp>
        <p:nvSpPr>
          <p:cNvPr id="10" name="Rectangle 9">
            <a:extLst>
              <a:ext uri="{FF2B5EF4-FFF2-40B4-BE49-F238E27FC236}">
                <a16:creationId xmlns:a16="http://schemas.microsoft.com/office/drawing/2014/main" id="{B3B32837-3693-EE92-907E-7074CFDAF9CA}"/>
              </a:ext>
            </a:extLst>
          </p:cNvPr>
          <p:cNvSpPr/>
          <p:nvPr/>
        </p:nvSpPr>
        <p:spPr>
          <a:xfrm>
            <a:off x="1128317" y="7271975"/>
            <a:ext cx="4601364" cy="771787"/>
          </a:xfrm>
          <a:prstGeom prst="rect">
            <a:avLst/>
          </a:prstGeom>
          <a:noFill/>
          <a:ln>
            <a:noFill/>
          </a:ln>
          <a:effectLst>
            <a:outerShdw blurRad="50800" dist="889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b="1"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8100000" scaled="1"/>
                  <a:tileRect/>
                </a:gradFill>
                <a:effectLst>
                  <a:innerShdw blurRad="63500" dist="50800" dir="16200000">
                    <a:prstClr val="black">
                      <a:alpha val="50000"/>
                    </a:prstClr>
                  </a:innerShdw>
                </a:effectLst>
                <a:latin typeface="Bookman Old Style" panose="02050604050505020204" pitchFamily="18" charset="0"/>
                <a:cs typeface="Posterama" panose="020B0504020200020000" pitchFamily="34" charset="0"/>
              </a:rPr>
              <a:t>Designing, Testing and Evolving Software with AI Assistance</a:t>
            </a:r>
          </a:p>
        </p:txBody>
      </p:sp>
      <p:sp>
        <p:nvSpPr>
          <p:cNvPr id="11" name="Rectangle 10">
            <a:extLst>
              <a:ext uri="{FF2B5EF4-FFF2-40B4-BE49-F238E27FC236}">
                <a16:creationId xmlns:a16="http://schemas.microsoft.com/office/drawing/2014/main" id="{D109A51C-014F-5816-715A-87D1BD5B6EED}"/>
              </a:ext>
            </a:extLst>
          </p:cNvPr>
          <p:cNvSpPr/>
          <p:nvPr/>
        </p:nvSpPr>
        <p:spPr>
          <a:xfrm>
            <a:off x="1399912" y="8088138"/>
            <a:ext cx="3940728" cy="771787"/>
          </a:xfrm>
          <a:prstGeom prst="rect">
            <a:avLst/>
          </a:prstGeom>
          <a:noFill/>
          <a:ln>
            <a:noFill/>
          </a:ln>
          <a:effectLst>
            <a:outerShdw blurRad="50800" dist="889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2000"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8100000" scaled="1"/>
                  <a:tileRect/>
                </a:gradFill>
                <a:effectLst>
                  <a:innerShdw blurRad="63500" dist="50800" dir="16200000">
                    <a:prstClr val="black">
                      <a:alpha val="50000"/>
                    </a:prstClr>
                  </a:innerShdw>
                </a:effectLst>
                <a:latin typeface="Bookman Old Style" panose="02050604050505020204" pitchFamily="18" charset="0"/>
                <a:cs typeface="Posterama" panose="020B0504020200020000" pitchFamily="34" charset="0"/>
              </a:rPr>
              <a:t>by Polla Fattah</a:t>
            </a:r>
          </a:p>
          <a:p>
            <a:pPr lvl="0" algn="ctr"/>
            <a:r>
              <a:rPr lang="en-US" sz="2000"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8100000" scaled="1"/>
                  <a:tileRect/>
                </a:gradFill>
                <a:effectLst>
                  <a:innerShdw blurRad="63500" dist="50800" dir="16200000">
                    <a:prstClr val="black">
                      <a:alpha val="50000"/>
                    </a:prstClr>
                  </a:innerShdw>
                </a:effectLst>
                <a:latin typeface="Bookman Old Style" panose="02050604050505020204" pitchFamily="18" charset="0"/>
                <a:cs typeface="Posterama" panose="020B0504020200020000" pitchFamily="34" charset="0"/>
              </a:rPr>
              <a:t>and Collection of LLMs</a:t>
            </a:r>
          </a:p>
        </p:txBody>
      </p:sp>
      <p:sp>
        <p:nvSpPr>
          <p:cNvPr id="19" name="Rectangle 18">
            <a:extLst>
              <a:ext uri="{FF2B5EF4-FFF2-40B4-BE49-F238E27FC236}">
                <a16:creationId xmlns:a16="http://schemas.microsoft.com/office/drawing/2014/main" id="{774805FA-C0BB-1924-387C-7FB1937F8F8E}"/>
              </a:ext>
            </a:extLst>
          </p:cNvPr>
          <p:cNvSpPr/>
          <p:nvPr/>
        </p:nvSpPr>
        <p:spPr>
          <a:xfrm flipV="1">
            <a:off x="1963151" y="8062969"/>
            <a:ext cx="2814249" cy="9144"/>
          </a:xfrm>
          <a:prstGeom prst="rect">
            <a:avLst/>
          </a:prstGeom>
          <a:gradFill flip="none" rotWithShape="1">
            <a:gsLst>
              <a:gs pos="100000">
                <a:srgbClr val="1E272E"/>
              </a:gs>
              <a:gs pos="0">
                <a:srgbClr val="1B212A"/>
              </a:gs>
              <a:gs pos="39000">
                <a:schemeClr val="bg1">
                  <a:shade val="67500"/>
                  <a:satMod val="115000"/>
                </a:schemeClr>
              </a:gs>
              <a:gs pos="66000">
                <a:schemeClr val="bg1">
                  <a:shade val="100000"/>
                  <a:satMod val="115000"/>
                </a:schemeClr>
              </a:gs>
            </a:gsLst>
            <a:lin ang="0" scaled="0"/>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b="1" dirty="0">
              <a:ln/>
              <a:solidFill>
                <a:srgbClr val="1E272E"/>
              </a:solidFill>
              <a:effectLst>
                <a:outerShdw blurRad="38100" dist="19050" dir="2700000" algn="tl" rotWithShape="0">
                  <a:schemeClr val="dk1">
                    <a:lumMod val="50000"/>
                    <a:alpha val="40000"/>
                  </a:schemeClr>
                </a:outerShdw>
              </a:effectLst>
              <a:latin typeface="Mongolian Baiti" panose="03000500000000000000" pitchFamily="66" charset="0"/>
              <a:ea typeface="ADLaM Display" panose="020F0502020204030204" pitchFamily="2" charset="0"/>
              <a:cs typeface="Mongolian Baiti" panose="03000500000000000000" pitchFamily="66" charset="0"/>
            </a:endParaRPr>
          </a:p>
        </p:txBody>
      </p:sp>
      <p:sp>
        <p:nvSpPr>
          <p:cNvPr id="2" name="Rectangle 1">
            <a:extLst>
              <a:ext uri="{FF2B5EF4-FFF2-40B4-BE49-F238E27FC236}">
                <a16:creationId xmlns:a16="http://schemas.microsoft.com/office/drawing/2014/main" id="{A820E9CF-D657-21A5-F2D8-DD96BCDC40D3}"/>
              </a:ext>
            </a:extLst>
          </p:cNvPr>
          <p:cNvSpPr/>
          <p:nvPr/>
        </p:nvSpPr>
        <p:spPr>
          <a:xfrm>
            <a:off x="1202771" y="1372801"/>
            <a:ext cx="4353886" cy="562062"/>
          </a:xfrm>
          <a:prstGeom prst="rect">
            <a:avLst/>
          </a:prstGeom>
          <a:gradFill flip="none" rotWithShape="1">
            <a:gsLst>
              <a:gs pos="100000">
                <a:srgbClr val="1E272E"/>
              </a:gs>
              <a:gs pos="0">
                <a:srgbClr val="1B212A"/>
              </a:gs>
              <a:gs pos="39000">
                <a:schemeClr val="bg1">
                  <a:shade val="67500"/>
                  <a:satMod val="115000"/>
                </a:schemeClr>
              </a:gs>
              <a:gs pos="66000">
                <a:schemeClr val="bg1">
                  <a:shade val="100000"/>
                  <a:satMod val="115000"/>
                </a:schemeClr>
              </a:gs>
            </a:gsLst>
            <a:lin ang="0" scaled="0"/>
            <a:tileRect/>
          </a:gradFill>
          <a:ln>
            <a:noFill/>
          </a:ln>
          <a:effectLst>
            <a:outerShdw blurRad="50800" dist="1143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sz="2800" b="1" dirty="0">
                <a:ln/>
                <a:solidFill>
                  <a:srgbClr val="1E272E"/>
                </a:solidFill>
                <a:effectLst>
                  <a:outerShdw blurRad="38100" dist="19050" dir="2700000" algn="tl" rotWithShape="0">
                    <a:schemeClr val="dk1">
                      <a:lumMod val="50000"/>
                      <a:alpha val="40000"/>
                    </a:schemeClr>
                  </a:outerShdw>
                </a:effectLst>
                <a:latin typeface="Mongolian Baiti" panose="03000500000000000000" pitchFamily="66" charset="0"/>
                <a:ea typeface="ADLaM Display" panose="020F0502020204030204" pitchFamily="2" charset="0"/>
                <a:cs typeface="Mongolian Baiti" panose="03000500000000000000" pitchFamily="66" charset="0"/>
              </a:rPr>
              <a:t>and Agile Practices</a:t>
            </a:r>
          </a:p>
        </p:txBody>
      </p:sp>
      <p:pic>
        <p:nvPicPr>
          <p:cNvPr id="12" name="Picture 11">
            <a:extLst>
              <a:ext uri="{FF2B5EF4-FFF2-40B4-BE49-F238E27FC236}">
                <a16:creationId xmlns:a16="http://schemas.microsoft.com/office/drawing/2014/main" id="{C5EF7458-C46D-098F-8098-509D4D52CEF4}"/>
              </a:ext>
            </a:extLst>
          </p:cNvPr>
          <p:cNvPicPr>
            <a:picLocks noChangeAspect="1"/>
          </p:cNvPicPr>
          <p:nvPr/>
        </p:nvPicPr>
        <p:blipFill>
          <a:blip r:embed="rId4"/>
          <a:stretch>
            <a:fillRect/>
          </a:stretch>
        </p:blipFill>
        <p:spPr>
          <a:xfrm>
            <a:off x="1716622" y="2090464"/>
            <a:ext cx="3424756" cy="5137135"/>
          </a:xfrm>
          <a:prstGeom prst="rect">
            <a:avLst/>
          </a:prstGeom>
        </p:spPr>
      </p:pic>
    </p:spTree>
    <p:extLst>
      <p:ext uri="{BB962C8B-B14F-4D97-AF65-F5344CB8AC3E}">
        <p14:creationId xmlns:p14="http://schemas.microsoft.com/office/powerpoint/2010/main" val="2828554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52ED9D7-200B-C157-1C8A-15873D024AEB}"/>
              </a:ext>
            </a:extLst>
          </p:cNvPr>
          <p:cNvPicPr>
            <a:picLocks noChangeAspect="1"/>
          </p:cNvPicPr>
          <p:nvPr/>
        </p:nvPicPr>
        <p:blipFill>
          <a:blip r:embed="rId2"/>
          <a:stretch>
            <a:fillRect/>
          </a:stretch>
        </p:blipFill>
        <p:spPr>
          <a:xfrm>
            <a:off x="0" y="-50334"/>
            <a:ext cx="6858000" cy="9179859"/>
          </a:xfrm>
          <a:prstGeom prst="rect">
            <a:avLst/>
          </a:prstGeom>
        </p:spPr>
      </p:pic>
      <p:pic>
        <p:nvPicPr>
          <p:cNvPr id="7" name="Picture 6">
            <a:extLst>
              <a:ext uri="{FF2B5EF4-FFF2-40B4-BE49-F238E27FC236}">
                <a16:creationId xmlns:a16="http://schemas.microsoft.com/office/drawing/2014/main" id="{CA204BE5-4446-3E4F-4D26-495050DF0B43}"/>
              </a:ext>
            </a:extLst>
          </p:cNvPr>
          <p:cNvPicPr>
            <a:picLocks noChangeAspect="1"/>
          </p:cNvPicPr>
          <p:nvPr/>
        </p:nvPicPr>
        <p:blipFill>
          <a:blip r:embed="rId3">
            <a:biLevel thresh="25000"/>
            <a:extLst>
              <a:ext uri="{BEBA8EAE-BF5A-486C-A8C5-ECC9F3942E4B}">
                <a14:imgProps xmlns:a14="http://schemas.microsoft.com/office/drawing/2010/main">
                  <a14:imgLayer r:embed="rId4">
                    <a14:imgEffect>
                      <a14:backgroundRemoval t="4068" b="90000" l="10000" r="90000">
                        <a14:foregroundMark x1="55085" y1="32203" x2="55085" y2="32203"/>
                        <a14:foregroundMark x1="48136" y1="7966" x2="48136" y2="7966"/>
                        <a14:foregroundMark x1="44068" y1="60339" x2="44068" y2="60339"/>
                        <a14:foregroundMark x1="41864" y1="74068" x2="41864" y2="74068"/>
                        <a14:foregroundMark x1="45763" y1="88136" x2="45763" y2="88136"/>
                        <a14:foregroundMark x1="43729" y1="4068" x2="43729" y2="4068"/>
                      </a14:backgroundRemoval>
                    </a14:imgEffect>
                  </a14:imgLayer>
                </a14:imgProps>
              </a:ext>
            </a:extLst>
          </a:blip>
          <a:stretch>
            <a:fillRect/>
          </a:stretch>
        </p:blipFill>
        <p:spPr>
          <a:xfrm>
            <a:off x="2882666" y="7248086"/>
            <a:ext cx="1092666" cy="1092666"/>
          </a:xfrm>
          <a:prstGeom prst="rect">
            <a:avLst/>
          </a:prstGeom>
        </p:spPr>
      </p:pic>
      <p:sp>
        <p:nvSpPr>
          <p:cNvPr id="9" name="Rectangle 8">
            <a:extLst>
              <a:ext uri="{FF2B5EF4-FFF2-40B4-BE49-F238E27FC236}">
                <a16:creationId xmlns:a16="http://schemas.microsoft.com/office/drawing/2014/main" id="{B68E1E5C-9CC8-6241-EA00-A753BB0F0175}"/>
              </a:ext>
            </a:extLst>
          </p:cNvPr>
          <p:cNvSpPr/>
          <p:nvPr/>
        </p:nvSpPr>
        <p:spPr>
          <a:xfrm>
            <a:off x="1458636" y="8122742"/>
            <a:ext cx="3940728" cy="771787"/>
          </a:xfrm>
          <a:prstGeom prst="rect">
            <a:avLst/>
          </a:prstGeom>
          <a:noFill/>
          <a:ln>
            <a:noFill/>
          </a:ln>
          <a:effectLst>
            <a:outerShdw blurRad="50800" dist="889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600" dirty="0">
                <a:solidFill>
                  <a:schemeClr val="bg1"/>
                </a:solidFill>
                <a:effectLst>
                  <a:innerShdw blurRad="63500" dist="50800" dir="16200000">
                    <a:prstClr val="black">
                      <a:alpha val="50000"/>
                    </a:prstClr>
                  </a:innerShdw>
                </a:effectLst>
                <a:latin typeface="Bookman Old Style" panose="02050604050505020204" pitchFamily="18" charset="0"/>
                <a:cs typeface="Posterama" panose="020B0504020200020000" pitchFamily="34" charset="0"/>
              </a:rPr>
              <a:t>by Polla Fattah</a:t>
            </a:r>
          </a:p>
          <a:p>
            <a:pPr lvl="0" algn="ctr"/>
            <a:r>
              <a:rPr lang="en-US" sz="1600" dirty="0">
                <a:solidFill>
                  <a:schemeClr val="bg1"/>
                </a:solidFill>
                <a:effectLst>
                  <a:innerShdw blurRad="63500" dist="50800" dir="16200000">
                    <a:prstClr val="black">
                      <a:alpha val="50000"/>
                    </a:prstClr>
                  </a:innerShdw>
                </a:effectLst>
                <a:latin typeface="Bookman Old Style" panose="02050604050505020204" pitchFamily="18" charset="0"/>
                <a:cs typeface="Posterama" panose="020B0504020200020000" pitchFamily="34" charset="0"/>
              </a:rPr>
              <a:t>and Collection of LLMs</a:t>
            </a:r>
          </a:p>
        </p:txBody>
      </p:sp>
      <p:sp>
        <p:nvSpPr>
          <p:cNvPr id="11" name="Rectangle 10">
            <a:extLst>
              <a:ext uri="{FF2B5EF4-FFF2-40B4-BE49-F238E27FC236}">
                <a16:creationId xmlns:a16="http://schemas.microsoft.com/office/drawing/2014/main" id="{0892B503-2C80-FA6C-51BD-E0C1C04F93A1}"/>
              </a:ext>
            </a:extLst>
          </p:cNvPr>
          <p:cNvSpPr/>
          <p:nvPr/>
        </p:nvSpPr>
        <p:spPr>
          <a:xfrm>
            <a:off x="241183" y="222362"/>
            <a:ext cx="6375626" cy="796517"/>
          </a:xfrm>
          <a:prstGeom prst="rect">
            <a:avLst/>
          </a:prstGeom>
          <a:noFill/>
          <a:ln>
            <a:noFill/>
          </a:ln>
          <a:effectLst>
            <a:outerShdw blurRad="50800" dist="889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extrusionH="57150">
              <a:bevelT h="25400" prst="softRound"/>
            </a:sp3d>
          </a:bodyPr>
          <a:lstStyle/>
          <a:p>
            <a:pPr algn="ctr"/>
            <a:r>
              <a:rPr lang="en-US" sz="2890" b="1" spc="-300" dirty="0">
                <a:solidFill>
                  <a:schemeClr val="bg1"/>
                </a:solidFill>
                <a:latin typeface="Yu Mincho Light" panose="02020300000000000000" pitchFamily="18" charset="-128"/>
                <a:ea typeface="Yu Mincho Light" panose="02020300000000000000" pitchFamily="18" charset="-128"/>
                <a:cs typeface="Mongolian Baiti" panose="03000500000000000000" pitchFamily="66" charset="0"/>
              </a:rPr>
              <a:t>Object Oriented Development and Agile Practices</a:t>
            </a:r>
          </a:p>
        </p:txBody>
      </p:sp>
      <p:sp>
        <p:nvSpPr>
          <p:cNvPr id="13" name="TextBox 12">
            <a:extLst>
              <a:ext uri="{FF2B5EF4-FFF2-40B4-BE49-F238E27FC236}">
                <a16:creationId xmlns:a16="http://schemas.microsoft.com/office/drawing/2014/main" id="{5B167A28-9344-9C45-565D-CC2DADCD1B15}"/>
              </a:ext>
            </a:extLst>
          </p:cNvPr>
          <p:cNvSpPr txBox="1"/>
          <p:nvPr/>
        </p:nvSpPr>
        <p:spPr>
          <a:xfrm>
            <a:off x="241182" y="1005872"/>
            <a:ext cx="6375629" cy="6078587"/>
          </a:xfrm>
          <a:prstGeom prst="rect">
            <a:avLst/>
          </a:prstGeom>
          <a:noFill/>
        </p:spPr>
        <p:txBody>
          <a:bodyPr wrap="square">
            <a:spAutoFit/>
          </a:bodyPr>
          <a:lstStyle/>
          <a:p>
            <a:pPr algn="just"/>
            <a:r>
              <a:rPr lang="en-US" sz="1600" dirty="0">
                <a:solidFill>
                  <a:schemeClr val="bg1"/>
                </a:solidFill>
              </a:rPr>
              <a:t>Software changes. Requirements evolve, new features challenge earlier decisions, and working code must remain understandable to the people who maintain it.</a:t>
            </a:r>
          </a:p>
          <a:p>
            <a:pPr algn="just"/>
            <a:endParaRPr lang="en-US" sz="1600" dirty="0">
              <a:solidFill>
                <a:schemeClr val="bg1"/>
              </a:solidFill>
            </a:endParaRPr>
          </a:p>
          <a:p>
            <a:pPr algn="just"/>
            <a:r>
              <a:rPr lang="en-US" sz="1600" b="1" dirty="0">
                <a:solidFill>
                  <a:schemeClr val="bg1"/>
                </a:solidFill>
              </a:rPr>
              <a:t>OO Development and Agile Practices </a:t>
            </a:r>
            <a:r>
              <a:rPr lang="en-US" sz="1600" dirty="0">
                <a:solidFill>
                  <a:schemeClr val="bg1"/>
                </a:solidFill>
              </a:rPr>
              <a:t>brings object-oriented design and Agile teamwork together through an evolving Java project. Following a campus equipment lending system from its first responsibilities to a tested change and final handover, readers learn how design decisions hold up as a system grows.</a:t>
            </a:r>
          </a:p>
          <a:p>
            <a:pPr algn="just"/>
            <a:endParaRPr lang="en-US" sz="1600" dirty="0">
              <a:solidFill>
                <a:schemeClr val="bg1"/>
              </a:solidFill>
            </a:endParaRPr>
          </a:p>
          <a:p>
            <a:pPr algn="just"/>
            <a:r>
              <a:rPr lang="en-US" sz="1600" dirty="0">
                <a:solidFill>
                  <a:schemeClr val="bg1"/>
                </a:solidFill>
              </a:rPr>
              <a:t>The book connects interfaces, composition, design patterns and architecture with practical work in requirements, testing, refactoring, integration and delivery. Worked examples, exercises and accompanying code explanations make each idea open to inspection: readers can trace a decision, run a test, examine a failure and justify a correction.</a:t>
            </a:r>
          </a:p>
          <a:p>
            <a:pPr algn="just"/>
            <a:endParaRPr lang="en-US" sz="1600" dirty="0">
              <a:solidFill>
                <a:schemeClr val="bg1"/>
              </a:solidFill>
            </a:endParaRPr>
          </a:p>
          <a:p>
            <a:pPr algn="just"/>
            <a:r>
              <a:rPr lang="en-US" sz="1600" dirty="0">
                <a:solidFill>
                  <a:schemeClr val="bg1"/>
                </a:solidFill>
              </a:rPr>
              <a:t>AI assistance appears throughout as a source of suggestions to question and verify. Readers learn to evaluate generated code, tests and explanations while retaining responsibility for the result.</a:t>
            </a:r>
          </a:p>
          <a:p>
            <a:pPr algn="just"/>
            <a:endParaRPr lang="en-US" sz="1600" dirty="0">
              <a:solidFill>
                <a:schemeClr val="bg1"/>
              </a:solidFill>
            </a:endParaRPr>
          </a:p>
          <a:p>
            <a:pPr algn="just"/>
            <a:r>
              <a:rPr lang="en-US" sz="1600" dirty="0">
                <a:solidFill>
                  <a:schemeClr val="bg1"/>
                </a:solidFill>
              </a:rPr>
              <a:t>Written for students who know programming fundamentals, this book develops the judgement needed to build software that can change and to explain, with evidence, why a change is ready.</a:t>
            </a:r>
            <a:endParaRPr lang="en-US" sz="500" b="0" i="0" dirty="0">
              <a:solidFill>
                <a:schemeClr val="bg1"/>
              </a:solidFill>
              <a:effectLst/>
              <a:latin typeface="Segoe WPC"/>
            </a:endParaRPr>
          </a:p>
        </p:txBody>
      </p:sp>
    </p:spTree>
    <p:extLst>
      <p:ext uri="{BB962C8B-B14F-4D97-AF65-F5344CB8AC3E}">
        <p14:creationId xmlns:p14="http://schemas.microsoft.com/office/powerpoint/2010/main" val="131596450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656</TotalTime>
  <Words>230</Words>
  <Application>Microsoft Office PowerPoint</Application>
  <PresentationFormat>On-screen Show (4:3)</PresentationFormat>
  <Paragraphs>17</Paragraphs>
  <Slides>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vt:i4>
      </vt:variant>
    </vt:vector>
  </HeadingPairs>
  <TitlesOfParts>
    <vt:vector size="10" baseType="lpstr">
      <vt:lpstr>Yu Mincho Light</vt:lpstr>
      <vt:lpstr>Aptos</vt:lpstr>
      <vt:lpstr>Aptos Display</vt:lpstr>
      <vt:lpstr>Arial</vt:lpstr>
      <vt:lpstr>Bookman Old Style</vt:lpstr>
      <vt:lpstr>Mongolian Baiti</vt:lpstr>
      <vt:lpstr>Segoe WPC</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Polla Abdulhamid Fattah</dc:creator>
  <cp:lastModifiedBy>Polla Abdulhamid Fattah</cp:lastModifiedBy>
  <cp:revision>18</cp:revision>
  <dcterms:created xsi:type="dcterms:W3CDTF">2026-09-26T18:19:49Z</dcterms:created>
  <dcterms:modified xsi:type="dcterms:W3CDTF">2026-10-13T16:54:33Z</dcterms:modified>
</cp:coreProperties>
</file>